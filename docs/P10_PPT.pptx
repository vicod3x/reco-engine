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1"/>
  </p:notesMasterIdLst>
  <p:sldIdLst>
    <p:sldId id="256" r:id="rId2"/>
    <p:sldId id="257" r:id="rId3"/>
    <p:sldId id="259" r:id="rId4"/>
    <p:sldId id="341" r:id="rId5"/>
    <p:sldId id="360" r:id="rId6"/>
    <p:sldId id="374" r:id="rId7"/>
    <p:sldId id="342" r:id="rId8"/>
    <p:sldId id="344" r:id="rId9"/>
    <p:sldId id="387" r:id="rId10"/>
    <p:sldId id="388" r:id="rId11"/>
    <p:sldId id="361" r:id="rId12"/>
    <p:sldId id="390" r:id="rId13"/>
    <p:sldId id="364" r:id="rId14"/>
    <p:sldId id="389" r:id="rId15"/>
    <p:sldId id="382" r:id="rId16"/>
    <p:sldId id="391" r:id="rId17"/>
    <p:sldId id="392" r:id="rId18"/>
    <p:sldId id="377" r:id="rId19"/>
    <p:sldId id="290"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40" d="100"/>
          <a:sy n="140" d="100"/>
        </p:scale>
        <p:origin x="14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6D6A6A-BAB6-484B-9304-24E0759B6528}" type="datetimeFigureOut">
              <a:rPr lang="fr-FR" smtClean="0"/>
              <a:t>06/02/2026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B48BEC-C11A-421A-826C-B61DC27950CC}" type="slidenum">
              <a:rPr lang="fr-FR" smtClean="0"/>
              <a:t>‹N°›</a:t>
            </a:fld>
            <a:endParaRPr lang="fr-FR"/>
          </a:p>
        </p:txBody>
      </p:sp>
    </p:spTree>
    <p:extLst>
      <p:ext uri="{BB962C8B-B14F-4D97-AF65-F5344CB8AC3E}">
        <p14:creationId xmlns:p14="http://schemas.microsoft.com/office/powerpoint/2010/main" val="1926383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2/6/2026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02186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2/6/2026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1934676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2/6/2026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125165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4139476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428641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508425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603238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2/6/2026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‹N°›</a:t>
            </a:fld>
            <a:endParaRPr lang="en-US" dirty="0"/>
          </a:p>
        </p:txBody>
      </p:sp>
    </p:spTree>
    <p:extLst>
      <p:ext uri="{BB962C8B-B14F-4D97-AF65-F5344CB8AC3E}">
        <p14:creationId xmlns:p14="http://schemas.microsoft.com/office/powerpoint/2010/main" val="42848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2/6/2026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385193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66734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2/6/2026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123827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2/6/2026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‹N°›</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2531139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hf sldNum="0" hdr="0" ftr="0" dt="0"/>
  <p:txStyles>
    <p:title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9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5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5A71294-C247-450A-BB34-6E68648C9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useBgFill="1">
        <p:nvSpPr>
          <p:cNvPr id="15" name="Rectangle 14">
            <a:extLst>
              <a:ext uri="{FF2B5EF4-FFF2-40B4-BE49-F238E27FC236}">
                <a16:creationId xmlns:a16="http://schemas.microsoft.com/office/drawing/2014/main" id="{D36A0BA4-6A63-41D3-B0FA-43799ABC4A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re 1">
            <a:extLst>
              <a:ext uri="{FF2B5EF4-FFF2-40B4-BE49-F238E27FC236}">
                <a16:creationId xmlns:a16="http://schemas.microsoft.com/office/drawing/2014/main" id="{3F3F5074-547C-222B-2E38-188661949A00}"/>
              </a:ext>
            </a:extLst>
          </p:cNvPr>
          <p:cNvSpPr>
            <a:spLocks noGrp="1"/>
          </p:cNvSpPr>
          <p:nvPr>
            <p:ph type="ctrTitle"/>
          </p:nvPr>
        </p:nvSpPr>
        <p:spPr>
          <a:xfrm>
            <a:off x="581192" y="1009398"/>
            <a:ext cx="6823988" cy="3453419"/>
          </a:xfrm>
        </p:spPr>
        <p:txBody>
          <a:bodyPr anchor="b">
            <a:normAutofit/>
          </a:bodyPr>
          <a:lstStyle/>
          <a:p>
            <a:r>
              <a:rPr lang="fr-FR" sz="6000" dirty="0">
                <a:solidFill>
                  <a:schemeClr val="tx1"/>
                </a:solidFill>
              </a:rPr>
              <a:t>Projet 10</a:t>
            </a:r>
          </a:p>
        </p:txBody>
      </p:sp>
      <p:sp>
        <p:nvSpPr>
          <p:cNvPr id="3" name="Sous-titre 2">
            <a:extLst>
              <a:ext uri="{FF2B5EF4-FFF2-40B4-BE49-F238E27FC236}">
                <a16:creationId xmlns:a16="http://schemas.microsoft.com/office/drawing/2014/main" id="{65D0C596-D280-F733-67E6-3523A62CEA20}"/>
              </a:ext>
            </a:extLst>
          </p:cNvPr>
          <p:cNvSpPr>
            <a:spLocks noGrp="1"/>
          </p:cNvSpPr>
          <p:nvPr>
            <p:ph type="subTitle" idx="1"/>
          </p:nvPr>
        </p:nvSpPr>
        <p:spPr>
          <a:xfrm>
            <a:off x="581190" y="4572000"/>
            <a:ext cx="7305509" cy="1023580"/>
          </a:xfrm>
        </p:spPr>
        <p:txBody>
          <a:bodyPr anchor="t">
            <a:noAutofit/>
          </a:bodyPr>
          <a:lstStyle/>
          <a:p>
            <a:r>
              <a:rPr lang="fr-FR" b="1" u="sng" dirty="0"/>
              <a:t>Réalisez une application de recommandation de Contenu</a:t>
            </a:r>
          </a:p>
          <a:p>
            <a:br>
              <a:rPr lang="fr-FR" b="1" u="sng" dirty="0"/>
            </a:br>
            <a:br>
              <a:rPr lang="fr-FR" sz="2000" b="1" u="sng" dirty="0"/>
            </a:br>
            <a:br>
              <a:rPr lang="fr-FR" sz="2000" b="1" u="sng" dirty="0"/>
            </a:br>
            <a:endParaRPr lang="fr-FR" sz="2000" b="1" u="sng" dirty="0">
              <a:solidFill>
                <a:schemeClr val="accent3">
                  <a:alpha val="60000"/>
                </a:schemeClr>
              </a:solidFill>
            </a:endParaRPr>
          </a:p>
        </p:txBody>
      </p:sp>
      <p:sp>
        <p:nvSpPr>
          <p:cNvPr id="13" name="Rectangle 12">
            <a:extLst>
              <a:ext uri="{FF2B5EF4-FFF2-40B4-BE49-F238E27FC236}">
                <a16:creationId xmlns:a16="http://schemas.microsoft.com/office/drawing/2014/main" id="{673313D8-D259-4D89-9CE5-14884FB40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19" y="457200"/>
            <a:ext cx="6766560" cy="91439"/>
          </a:xfrm>
          <a:prstGeom prst="rect">
            <a:avLst/>
          </a:prstGeom>
          <a:solidFill>
            <a:schemeClr val="tx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16" name="Picture 3" descr="Une image contenant rideau, capture d’écran, art, léger&#10;&#10;Description générée automatiquement">
            <a:extLst>
              <a:ext uri="{FF2B5EF4-FFF2-40B4-BE49-F238E27FC236}">
                <a16:creationId xmlns:a16="http://schemas.microsoft.com/office/drawing/2014/main" id="{8F18CC34-00BA-E610-7984-B7617A9CA2F4}"/>
              </a:ext>
            </a:extLst>
          </p:cNvPr>
          <p:cNvPicPr>
            <a:picLocks noChangeAspect="1"/>
          </p:cNvPicPr>
          <p:nvPr/>
        </p:nvPicPr>
        <p:blipFill>
          <a:blip r:embed="rId2"/>
          <a:srcRect l="34579" r="23919" b="1"/>
          <a:stretch/>
        </p:blipFill>
        <p:spPr>
          <a:xfrm>
            <a:off x="8140428" y="10"/>
            <a:ext cx="4051572" cy="6857990"/>
          </a:xfrm>
          <a:prstGeom prst="rect">
            <a:avLst/>
          </a:prstGeom>
        </p:spPr>
      </p:pic>
      <p:sp>
        <p:nvSpPr>
          <p:cNvPr id="4" name="Sous-titre 2">
            <a:extLst>
              <a:ext uri="{FF2B5EF4-FFF2-40B4-BE49-F238E27FC236}">
                <a16:creationId xmlns:a16="http://schemas.microsoft.com/office/drawing/2014/main" id="{CB7D965F-13ED-F28F-C5CD-CB1A3109E7F5}"/>
              </a:ext>
            </a:extLst>
          </p:cNvPr>
          <p:cNvSpPr txBox="1">
            <a:spLocks/>
          </p:cNvSpPr>
          <p:nvPr/>
        </p:nvSpPr>
        <p:spPr>
          <a:xfrm>
            <a:off x="581191" y="657822"/>
            <a:ext cx="6823988" cy="1023580"/>
          </a:xfrm>
          <a:prstGeom prst="rect">
            <a:avLst/>
          </a:prstGeom>
        </p:spPr>
        <p:txBody>
          <a:bodyPr vert="horz" lIns="91440" tIns="45720" rIns="91440" bIns="45720" rtlCol="0" anchor="t">
            <a:noAutofit/>
          </a:bodyPr>
          <a:lstStyle>
            <a:lvl1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600" kern="1200" cap="all">
                <a:solidFill>
                  <a:schemeClr val="accent1"/>
                </a:solidFill>
                <a:latin typeface="+mn-lt"/>
                <a:ea typeface="+mn-ea"/>
                <a:cs typeface="+mn-cs"/>
              </a:defRPr>
            </a:lvl1pPr>
            <a:lvl2pPr marL="4572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700" kern="1200">
                <a:solidFill>
                  <a:schemeClr val="tx1">
                    <a:tint val="75000"/>
                  </a:schemeClr>
                </a:solidFill>
                <a:latin typeface="+mn-lt"/>
                <a:ea typeface="+mn-ea"/>
                <a:cs typeface="+mn-cs"/>
              </a:defRPr>
            </a:lvl2pPr>
            <a:lvl3pPr marL="9144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500" kern="1200">
                <a:solidFill>
                  <a:schemeClr val="tx1">
                    <a:tint val="75000"/>
                  </a:schemeClr>
                </a:solidFill>
                <a:latin typeface="+mn-lt"/>
                <a:ea typeface="+mn-ea"/>
                <a:cs typeface="+mn-cs"/>
              </a:defRPr>
            </a:lvl3pPr>
            <a:lvl4pPr marL="13716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4pPr>
            <a:lvl5pPr marL="18288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nSpc>
                <a:spcPct val="100000"/>
              </a:lnSpc>
            </a:pPr>
            <a:r>
              <a:rPr lang="fr-FR" sz="1100" b="1" dirty="0">
                <a:solidFill>
                  <a:schemeClr val="accent3">
                    <a:alpha val="60000"/>
                  </a:schemeClr>
                </a:solidFill>
                <a:latin typeface="Inter"/>
              </a:rPr>
              <a:t>Victor. A</a:t>
            </a:r>
          </a:p>
          <a:p>
            <a:pPr>
              <a:lnSpc>
                <a:spcPct val="100000"/>
              </a:lnSpc>
            </a:pPr>
            <a:r>
              <a:rPr lang="fr-FR" sz="1100" b="1" dirty="0">
                <a:solidFill>
                  <a:schemeClr val="accent3">
                    <a:alpha val="60000"/>
                  </a:schemeClr>
                </a:solidFill>
                <a:latin typeface="Inter"/>
              </a:rPr>
              <a:t>open Classroom</a:t>
            </a:r>
          </a:p>
          <a:p>
            <a:pPr>
              <a:lnSpc>
                <a:spcPct val="100000"/>
              </a:lnSpc>
            </a:pPr>
            <a:br>
              <a:rPr lang="fr-FR" sz="1100" b="1" dirty="0">
                <a:solidFill>
                  <a:schemeClr val="accent3">
                    <a:alpha val="60000"/>
                  </a:schemeClr>
                </a:solidFill>
                <a:latin typeface="Inter"/>
              </a:rPr>
            </a:br>
            <a:endParaRPr lang="fr-FR" sz="1100" b="1" dirty="0">
              <a:solidFill>
                <a:schemeClr val="accent3">
                  <a:alpha val="60000"/>
                </a:schemeClr>
              </a:solidFill>
            </a:endParaRPr>
          </a:p>
        </p:txBody>
      </p:sp>
    </p:spTree>
    <p:extLst>
      <p:ext uri="{BB962C8B-B14F-4D97-AF65-F5344CB8AC3E}">
        <p14:creationId xmlns:p14="http://schemas.microsoft.com/office/powerpoint/2010/main" val="249769337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6B47BF-F3D0-4678-9B20-DA45E1BCA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CDEF993-F039-C76A-44A1-CA074E9C6D26}"/>
              </a:ext>
            </a:extLst>
          </p:cNvPr>
          <p:cNvSpPr>
            <a:spLocks noGrp="1"/>
          </p:cNvSpPr>
          <p:nvPr>
            <p:ph type="title"/>
          </p:nvPr>
        </p:nvSpPr>
        <p:spPr>
          <a:xfrm>
            <a:off x="109364" y="1239299"/>
            <a:ext cx="4898858" cy="4608003"/>
          </a:xfrm>
        </p:spPr>
        <p:txBody>
          <a:bodyPr anchor="ctr">
            <a:normAutofit/>
          </a:bodyPr>
          <a:lstStyle/>
          <a:p>
            <a:r>
              <a:rPr lang="fr-FR" sz="4000" dirty="0">
                <a:solidFill>
                  <a:schemeClr val="accent1"/>
                </a:solidFill>
              </a:rPr>
              <a:t>CONTEXTE ET OBJECTIFS DU PROJET</a:t>
            </a:r>
          </a:p>
        </p:txBody>
      </p:sp>
      <p:sp>
        <p:nvSpPr>
          <p:cNvPr id="10" name="Rectangle 9">
            <a:extLst>
              <a:ext uri="{FF2B5EF4-FFF2-40B4-BE49-F238E27FC236}">
                <a16:creationId xmlns:a16="http://schemas.microsoft.com/office/drawing/2014/main" id="{19334917-3673-4EF2-BA7C-CC83AEEEA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673" y="457200"/>
            <a:ext cx="420624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dirty="0"/>
          </a:p>
        </p:txBody>
      </p:sp>
      <p:sp>
        <p:nvSpPr>
          <p:cNvPr id="12" name="Rectangle 11">
            <a:extLst>
              <a:ext uri="{FF2B5EF4-FFF2-40B4-BE49-F238E27FC236}">
                <a16:creationId xmlns:a16="http://schemas.microsoft.com/office/drawing/2014/main" id="{E1589AE1-C0FC-4B66-9C0D-9EB92F40F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7585" y="457200"/>
            <a:ext cx="65836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dirty="0"/>
          </a:p>
        </p:txBody>
      </p:sp>
      <p:sp>
        <p:nvSpPr>
          <p:cNvPr id="3" name="Espace réservé du contenu 2">
            <a:extLst>
              <a:ext uri="{FF2B5EF4-FFF2-40B4-BE49-F238E27FC236}">
                <a16:creationId xmlns:a16="http://schemas.microsoft.com/office/drawing/2014/main" id="{D3C7E2F6-198D-3A73-7572-4A4C13B48D2D}"/>
              </a:ext>
            </a:extLst>
          </p:cNvPr>
          <p:cNvSpPr>
            <a:spLocks noGrp="1"/>
          </p:cNvSpPr>
          <p:nvPr>
            <p:ph idx="1"/>
          </p:nvPr>
        </p:nvSpPr>
        <p:spPr>
          <a:xfrm>
            <a:off x="5117586" y="1124998"/>
            <a:ext cx="6143248" cy="4608003"/>
          </a:xfrm>
        </p:spPr>
        <p:txBody>
          <a:bodyPr>
            <a:normAutofit/>
          </a:bodyPr>
          <a:lstStyle/>
          <a:p>
            <a:r>
              <a:rPr lang="fr-FR" sz="2000" b="1" dirty="0"/>
              <a:t>Contexte</a:t>
            </a:r>
            <a:r>
              <a:rPr lang="fr-FR" sz="2000" dirty="0"/>
              <a:t> : </a:t>
            </a:r>
            <a:r>
              <a:rPr lang="fr-FR" sz="2000" dirty="0" err="1"/>
              <a:t>MyContent</a:t>
            </a:r>
            <a:r>
              <a:rPr lang="fr-FR" sz="2000" dirty="0"/>
              <a:t> est une start-up visant à encourager la lecture grâce à la recommandation de contenus. Ce projet consiste à concevoir un premier MVP de système de recommandation à partir de données d’interactions utilisateurs.</a:t>
            </a:r>
          </a:p>
          <a:p>
            <a:endParaRPr lang="fr-FR" sz="2000" b="1" dirty="0"/>
          </a:p>
          <a:p>
            <a:r>
              <a:rPr lang="fr-FR" sz="2000" b="1" dirty="0"/>
              <a:t>Objectif</a:t>
            </a:r>
            <a:r>
              <a:rPr lang="fr-FR" sz="2000" dirty="0"/>
              <a:t> : Développer un système de recommandation capable de proposer, pour un utilisateur donné, cinq articles pertinents, dans une logique de MVP simple, fonctionnelle et évolutive.</a:t>
            </a:r>
          </a:p>
        </p:txBody>
      </p:sp>
    </p:spTree>
    <p:extLst>
      <p:ext uri="{BB962C8B-B14F-4D97-AF65-F5344CB8AC3E}">
        <p14:creationId xmlns:p14="http://schemas.microsoft.com/office/powerpoint/2010/main" val="255287273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5351FE3-C556-98D8-5166-BE6F7548C8B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9ACCC6-9BDF-BA26-3F60-09716B85DC92}"/>
              </a:ext>
            </a:extLst>
          </p:cNvPr>
          <p:cNvSpPr>
            <a:spLocks noGrp="1"/>
          </p:cNvSpPr>
          <p:nvPr>
            <p:ph type="title"/>
          </p:nvPr>
        </p:nvSpPr>
        <p:spPr>
          <a:xfrm>
            <a:off x="4500646" y="-14371"/>
            <a:ext cx="3990808" cy="778698"/>
          </a:xfrm>
        </p:spPr>
        <p:txBody>
          <a:bodyPr anchor="ctr">
            <a:normAutofit/>
          </a:bodyPr>
          <a:lstStyle/>
          <a:p>
            <a:r>
              <a:rPr lang="fr-FR" sz="4000" dirty="0">
                <a:solidFill>
                  <a:srgbClr val="FFFF00"/>
                </a:solidFill>
              </a:rPr>
              <a:t>MISE EN PLACE</a:t>
            </a:r>
          </a:p>
        </p:txBody>
      </p:sp>
      <p:sp>
        <p:nvSpPr>
          <p:cNvPr id="4" name="Titre 1">
            <a:extLst>
              <a:ext uri="{FF2B5EF4-FFF2-40B4-BE49-F238E27FC236}">
                <a16:creationId xmlns:a16="http://schemas.microsoft.com/office/drawing/2014/main" id="{9EEDAE20-C7D6-0C41-928C-50DFDA18135D}"/>
              </a:ext>
            </a:extLst>
          </p:cNvPr>
          <p:cNvSpPr txBox="1">
            <a:spLocks/>
          </p:cNvSpPr>
          <p:nvPr/>
        </p:nvSpPr>
        <p:spPr>
          <a:xfrm>
            <a:off x="330534" y="331248"/>
            <a:ext cx="466558" cy="1148301"/>
          </a:xfrm>
          <a:prstGeom prst="rect">
            <a:avLst/>
          </a:prstGeom>
        </p:spPr>
        <p:txBody>
          <a:bodyPr vert="horz" lIns="91440" tIns="45720" rIns="91440" bIns="45720" rtlCol="0" anchor="ctr">
            <a:normAutofit/>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dirty="0">
                <a:solidFill>
                  <a:schemeClr val="accent1"/>
                </a:solidFill>
              </a:rPr>
              <a:t>1</a:t>
            </a:r>
          </a:p>
        </p:txBody>
      </p:sp>
      <p:sp>
        <p:nvSpPr>
          <p:cNvPr id="12" name="ZoneTexte 11">
            <a:extLst>
              <a:ext uri="{FF2B5EF4-FFF2-40B4-BE49-F238E27FC236}">
                <a16:creationId xmlns:a16="http://schemas.microsoft.com/office/drawing/2014/main" id="{6C54AF76-7CCC-4D94-C065-A906FB1E7E2E}"/>
              </a:ext>
            </a:extLst>
          </p:cNvPr>
          <p:cNvSpPr txBox="1"/>
          <p:nvPr/>
        </p:nvSpPr>
        <p:spPr>
          <a:xfrm>
            <a:off x="2218100" y="5238653"/>
            <a:ext cx="7755800" cy="1323439"/>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L’exploration initiale des données montre un catalogue d’articles très volumineux comparé au nombre limité d’interactions utilisateurs. Le jeu de données est donc fortement creux, avec peu de clics par utilisateur. Ce contexte oriente le projet vers une approche de recommandation simple et robuste, adaptée à une logique de MVP et capable de fonctionner malgré une faible densité d’interactions.</a:t>
            </a:r>
          </a:p>
        </p:txBody>
      </p:sp>
      <p:pic>
        <p:nvPicPr>
          <p:cNvPr id="6" name="Image 5" descr="Une image contenant texte, capture d’écran, logiciel&#10;&#10;Le contenu généré par l’IA peut être incorrect.">
            <a:extLst>
              <a:ext uri="{FF2B5EF4-FFF2-40B4-BE49-F238E27FC236}">
                <a16:creationId xmlns:a16="http://schemas.microsoft.com/office/drawing/2014/main" id="{084D6D7C-C70E-8D36-CC0F-DEAB1A9E91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81" y="905398"/>
            <a:ext cx="6382269" cy="4067229"/>
          </a:xfrm>
          <a:prstGeom prst="rect">
            <a:avLst/>
          </a:prstGeom>
        </p:spPr>
      </p:pic>
      <p:pic>
        <p:nvPicPr>
          <p:cNvPr id="8" name="Image 7" descr="Une image contenant texte, capture d’écran, Police&#10;&#10;Le contenu généré par l’IA peut être incorrect.">
            <a:extLst>
              <a:ext uri="{FF2B5EF4-FFF2-40B4-BE49-F238E27FC236}">
                <a16:creationId xmlns:a16="http://schemas.microsoft.com/office/drawing/2014/main" id="{95842499-A5DF-F43D-B829-9FD6001030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0664" y="1764467"/>
            <a:ext cx="5417555" cy="2219464"/>
          </a:xfrm>
          <a:prstGeom prst="rect">
            <a:avLst/>
          </a:prstGeom>
        </p:spPr>
      </p:pic>
    </p:spTree>
    <p:extLst>
      <p:ext uri="{BB962C8B-B14F-4D97-AF65-F5344CB8AC3E}">
        <p14:creationId xmlns:p14="http://schemas.microsoft.com/office/powerpoint/2010/main" val="2017741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23FF5EE-ED93-DAA8-1772-14307B67055E}"/>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117D4476-DE70-A323-DB94-A58FA73A8D2D}"/>
              </a:ext>
            </a:extLst>
          </p:cNvPr>
          <p:cNvSpPr txBox="1">
            <a:spLocks/>
          </p:cNvSpPr>
          <p:nvPr/>
        </p:nvSpPr>
        <p:spPr>
          <a:xfrm>
            <a:off x="4621296" y="-140709"/>
            <a:ext cx="3990808" cy="778698"/>
          </a:xfrm>
          <a:prstGeom prst="rect">
            <a:avLst/>
          </a:prstGeom>
        </p:spPr>
        <p:txBody>
          <a:bodyPr vert="horz" lIns="91440" tIns="45720" rIns="91440" bIns="45720" rtlCol="0" anchor="ctr">
            <a:normAutofit fontScale="97500"/>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dirty="0">
                <a:solidFill>
                  <a:srgbClr val="FFFF00"/>
                </a:solidFill>
              </a:rPr>
              <a:t>MISE EN PLACE</a:t>
            </a:r>
          </a:p>
        </p:txBody>
      </p:sp>
      <p:pic>
        <p:nvPicPr>
          <p:cNvPr id="4" name="Image 3" descr="Une image contenant texte, capture d’écran, Police, logiciel&#10;&#10;Le contenu généré par l’IA peut être incorrect.">
            <a:extLst>
              <a:ext uri="{FF2B5EF4-FFF2-40B4-BE49-F238E27FC236}">
                <a16:creationId xmlns:a16="http://schemas.microsoft.com/office/drawing/2014/main" id="{10DDF7E3-0551-8239-1A63-B767B5E11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4423" y="933860"/>
            <a:ext cx="9163154" cy="3834990"/>
          </a:xfrm>
          <a:prstGeom prst="rect">
            <a:avLst/>
          </a:prstGeom>
        </p:spPr>
      </p:pic>
      <p:sp>
        <p:nvSpPr>
          <p:cNvPr id="6" name="ZoneTexte 5">
            <a:extLst>
              <a:ext uri="{FF2B5EF4-FFF2-40B4-BE49-F238E27FC236}">
                <a16:creationId xmlns:a16="http://schemas.microsoft.com/office/drawing/2014/main" id="{F375BFB4-6469-9620-6570-DF98D7B475CA}"/>
              </a:ext>
            </a:extLst>
          </p:cNvPr>
          <p:cNvSpPr txBox="1"/>
          <p:nvPr/>
        </p:nvSpPr>
        <p:spPr>
          <a:xfrm>
            <a:off x="1588475" y="5064721"/>
            <a:ext cx="9015050" cy="1323439"/>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L’analyse des </a:t>
            </a:r>
            <a:r>
              <a:rPr lang="fr-FR" sz="1600" dirty="0" err="1"/>
              <a:t>embeddings</a:t>
            </a:r>
            <a:r>
              <a:rPr lang="fr-FR" sz="1600" dirty="0"/>
              <a:t> montre une représentation vectorielle complète du catalogue d’articles, avec une dimension fixe de 250 caractéristiques par contenu. La couverture totale des clics par les </a:t>
            </a:r>
            <a:r>
              <a:rPr lang="fr-FR" sz="1600" dirty="0" err="1"/>
              <a:t>embeddings</a:t>
            </a:r>
            <a:r>
              <a:rPr lang="fr-FR" sz="1600" dirty="0"/>
              <a:t> garantit que chaque interaction utilisateur peut être exploitée sans perte d’information. Cette cohérence entre données de contenu et données d’usage simplifie le pipeline de recommandation et sécurise la mise en œuvre du calcul de similarité dans le cadre du MVP.</a:t>
            </a:r>
          </a:p>
        </p:txBody>
      </p:sp>
    </p:spTree>
    <p:extLst>
      <p:ext uri="{BB962C8B-B14F-4D97-AF65-F5344CB8AC3E}">
        <p14:creationId xmlns:p14="http://schemas.microsoft.com/office/powerpoint/2010/main" val="4120534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4E6F68D-97F8-9A7B-1F8E-DB1704C2B4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8891B7-A344-6223-3F7A-629E24D6D9DA}"/>
              </a:ext>
            </a:extLst>
          </p:cNvPr>
          <p:cNvSpPr>
            <a:spLocks noGrp="1"/>
          </p:cNvSpPr>
          <p:nvPr>
            <p:ph type="title"/>
          </p:nvPr>
        </p:nvSpPr>
        <p:spPr>
          <a:xfrm>
            <a:off x="4583191" y="79209"/>
            <a:ext cx="3428045" cy="778698"/>
          </a:xfrm>
        </p:spPr>
        <p:txBody>
          <a:bodyPr anchor="ctr">
            <a:normAutofit/>
          </a:bodyPr>
          <a:lstStyle/>
          <a:p>
            <a:r>
              <a:rPr lang="fr-FR" sz="4000" dirty="0">
                <a:solidFill>
                  <a:srgbClr val="FFFF00"/>
                </a:solidFill>
              </a:rPr>
              <a:t>MISE EN PLACE</a:t>
            </a:r>
          </a:p>
        </p:txBody>
      </p:sp>
      <p:pic>
        <p:nvPicPr>
          <p:cNvPr id="4" name="Image 3" descr="Une image contenant texte, capture d’écran, logiciel, Logiciel multimédia&#10;&#10;Le contenu généré par l’IA peut être incorrect.">
            <a:extLst>
              <a:ext uri="{FF2B5EF4-FFF2-40B4-BE49-F238E27FC236}">
                <a16:creationId xmlns:a16="http://schemas.microsoft.com/office/drawing/2014/main" id="{CB04CC3E-047E-EF4A-BB17-D885D3F36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7404" y="857907"/>
            <a:ext cx="9877191" cy="4071514"/>
          </a:xfrm>
          <a:prstGeom prst="rect">
            <a:avLst/>
          </a:prstGeom>
        </p:spPr>
      </p:pic>
      <p:sp>
        <p:nvSpPr>
          <p:cNvPr id="6" name="ZoneTexte 5">
            <a:extLst>
              <a:ext uri="{FF2B5EF4-FFF2-40B4-BE49-F238E27FC236}">
                <a16:creationId xmlns:a16="http://schemas.microsoft.com/office/drawing/2014/main" id="{54B6BB84-9B68-4B0D-F474-AA147806E3D5}"/>
              </a:ext>
            </a:extLst>
          </p:cNvPr>
          <p:cNvSpPr txBox="1"/>
          <p:nvPr/>
        </p:nvSpPr>
        <p:spPr>
          <a:xfrm>
            <a:off x="1588474" y="5223471"/>
            <a:ext cx="9015050" cy="1077218"/>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Une première </a:t>
            </a:r>
            <a:r>
              <a:rPr lang="fr-FR" sz="1600" dirty="0" err="1"/>
              <a:t>baseline</a:t>
            </a:r>
            <a:r>
              <a:rPr lang="fr-FR" sz="1600" dirty="0"/>
              <a:t> de recommandation repose sur la popularité globale des articles, calculée à partir du nombre total de clics observés. Cette approche permet de classer les contenus et de recommander les articles les plus fréquemment consultés. Elle constitue une solution simple et robuste, garantissant des recommandations même en l’absence d’historique utilisateur, notamment dans les situations de </a:t>
            </a:r>
            <a:r>
              <a:rPr lang="fr-FR" sz="1600" i="1" dirty="0"/>
              <a:t>cold start</a:t>
            </a:r>
            <a:r>
              <a:rPr lang="fr-FR" sz="1600" dirty="0"/>
              <a:t>.</a:t>
            </a:r>
          </a:p>
        </p:txBody>
      </p:sp>
    </p:spTree>
    <p:extLst>
      <p:ext uri="{BB962C8B-B14F-4D97-AF65-F5344CB8AC3E}">
        <p14:creationId xmlns:p14="http://schemas.microsoft.com/office/powerpoint/2010/main" val="607648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47C1B7FD-80B0-2981-C07D-E40974AB11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2D5C24-F067-9066-D1F6-946D5F4D65A2}"/>
              </a:ext>
            </a:extLst>
          </p:cNvPr>
          <p:cNvSpPr>
            <a:spLocks noGrp="1"/>
          </p:cNvSpPr>
          <p:nvPr>
            <p:ph type="title"/>
          </p:nvPr>
        </p:nvSpPr>
        <p:spPr>
          <a:xfrm>
            <a:off x="4118557" y="-110182"/>
            <a:ext cx="3954886" cy="778698"/>
          </a:xfrm>
        </p:spPr>
        <p:txBody>
          <a:bodyPr anchor="ctr">
            <a:normAutofit/>
          </a:bodyPr>
          <a:lstStyle/>
          <a:p>
            <a:r>
              <a:rPr lang="fr-FR" sz="4000" dirty="0">
                <a:solidFill>
                  <a:srgbClr val="FFFF00"/>
                </a:solidFill>
              </a:rPr>
              <a:t>FONCTION RECO</a:t>
            </a:r>
          </a:p>
        </p:txBody>
      </p:sp>
      <p:sp>
        <p:nvSpPr>
          <p:cNvPr id="6" name="ZoneTexte 5">
            <a:extLst>
              <a:ext uri="{FF2B5EF4-FFF2-40B4-BE49-F238E27FC236}">
                <a16:creationId xmlns:a16="http://schemas.microsoft.com/office/drawing/2014/main" id="{89FC23FB-189D-10D0-4693-E261F65C2ED3}"/>
              </a:ext>
            </a:extLst>
          </p:cNvPr>
          <p:cNvSpPr txBox="1"/>
          <p:nvPr/>
        </p:nvSpPr>
        <p:spPr>
          <a:xfrm>
            <a:off x="1837368" y="5523298"/>
            <a:ext cx="8517261"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 fonction de recommandation s’appuie sur une approche basée sur le contenu, enrichie par une stratégie de repli par popularité. L’historique de clics permet de construire un profil utilisateur représentatif de ses intérêts, tandis que la popularité garantit des recommandations pertinentes en situation de </a:t>
            </a:r>
            <a:r>
              <a:rPr lang="fr-FR" sz="1400" i="1" dirty="0"/>
              <a:t>cold start</a:t>
            </a:r>
            <a:r>
              <a:rPr lang="fr-FR" sz="1400" dirty="0"/>
              <a:t>. Cette combinaison offre une solution simple, efficace et parfaitement adaptée aux contraintes d’un MVP.</a:t>
            </a:r>
          </a:p>
        </p:txBody>
      </p:sp>
      <p:pic>
        <p:nvPicPr>
          <p:cNvPr id="8" name="Image 7" descr="Une image contenant texte, capture d’écran, Police, logiciel&#10;&#10;Le contenu généré par l’IA peut être incorrect.">
            <a:extLst>
              <a:ext uri="{FF2B5EF4-FFF2-40B4-BE49-F238E27FC236}">
                <a16:creationId xmlns:a16="http://schemas.microsoft.com/office/drawing/2014/main" id="{A00B62C6-BB7C-BBC3-F545-AD7B516BE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8874" y="668516"/>
            <a:ext cx="7914251" cy="4629110"/>
          </a:xfrm>
          <a:prstGeom prst="rect">
            <a:avLst/>
          </a:prstGeom>
        </p:spPr>
      </p:pic>
    </p:spTree>
    <p:extLst>
      <p:ext uri="{BB962C8B-B14F-4D97-AF65-F5344CB8AC3E}">
        <p14:creationId xmlns:p14="http://schemas.microsoft.com/office/powerpoint/2010/main" val="3527083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125C13A-951A-23CD-AFB0-D886033B14E2}"/>
            </a:ext>
          </a:extLst>
        </p:cNvPr>
        <p:cNvGrpSpPr/>
        <p:nvPr/>
      </p:nvGrpSpPr>
      <p:grpSpPr>
        <a:xfrm>
          <a:off x="0" y="0"/>
          <a:ext cx="0" cy="0"/>
          <a:chOff x="0" y="0"/>
          <a:chExt cx="0" cy="0"/>
        </a:xfrm>
      </p:grpSpPr>
      <p:sp>
        <p:nvSpPr>
          <p:cNvPr id="10" name="ZoneTexte 9">
            <a:extLst>
              <a:ext uri="{FF2B5EF4-FFF2-40B4-BE49-F238E27FC236}">
                <a16:creationId xmlns:a16="http://schemas.microsoft.com/office/drawing/2014/main" id="{611D2E93-07CF-CFAC-6EB0-042C3949DF6D}"/>
              </a:ext>
            </a:extLst>
          </p:cNvPr>
          <p:cNvSpPr txBox="1"/>
          <p:nvPr/>
        </p:nvSpPr>
        <p:spPr>
          <a:xfrm>
            <a:off x="2505901" y="4998887"/>
            <a:ext cx="7180198"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Les résultats montrent que le système est capable de générer des recommandations personnalisées distinctes selon les utilisateurs, à partir de leurs historiques de clics. Pour un nouvel utilisateur sans historique, la stratégie de popularité permet de proposer immédiatement des contenus pertinents. </a:t>
            </a:r>
          </a:p>
        </p:txBody>
      </p:sp>
      <p:sp>
        <p:nvSpPr>
          <p:cNvPr id="5" name="Titre 1">
            <a:extLst>
              <a:ext uri="{FF2B5EF4-FFF2-40B4-BE49-F238E27FC236}">
                <a16:creationId xmlns:a16="http://schemas.microsoft.com/office/drawing/2014/main" id="{8A49B120-E211-6175-65D6-95CF25C60BAF}"/>
              </a:ext>
            </a:extLst>
          </p:cNvPr>
          <p:cNvSpPr txBox="1">
            <a:spLocks/>
          </p:cNvSpPr>
          <p:nvPr/>
        </p:nvSpPr>
        <p:spPr>
          <a:xfrm>
            <a:off x="4118557" y="-110182"/>
            <a:ext cx="3954886" cy="778698"/>
          </a:xfrm>
          <a:prstGeom prst="rect">
            <a:avLst/>
          </a:prstGeom>
        </p:spPr>
        <p:txBody>
          <a:bodyPr vert="horz" lIns="91440" tIns="45720" rIns="91440" bIns="45720" rtlCol="0" anchor="ctr">
            <a:normAutofit/>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a:solidFill>
                  <a:srgbClr val="FFFF00"/>
                </a:solidFill>
              </a:rPr>
              <a:t>FONCTION RECO</a:t>
            </a:r>
            <a:endParaRPr lang="fr-FR" sz="4000" dirty="0">
              <a:solidFill>
                <a:srgbClr val="FFFF00"/>
              </a:solidFill>
            </a:endParaRPr>
          </a:p>
        </p:txBody>
      </p:sp>
      <p:pic>
        <p:nvPicPr>
          <p:cNvPr id="8" name="Image 7" descr="Une image contenant texte, capture d’écran, logiciel, Police&#10;&#10;Le contenu généré par l’IA peut être incorrect.">
            <a:extLst>
              <a:ext uri="{FF2B5EF4-FFF2-40B4-BE49-F238E27FC236}">
                <a16:creationId xmlns:a16="http://schemas.microsoft.com/office/drawing/2014/main" id="{D8304893-1F2F-A3C9-A567-76851CB2CB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7279" y="1120449"/>
            <a:ext cx="9117442" cy="2841951"/>
          </a:xfrm>
          <a:prstGeom prst="rect">
            <a:avLst/>
          </a:prstGeom>
        </p:spPr>
      </p:pic>
    </p:spTree>
    <p:extLst>
      <p:ext uri="{BB962C8B-B14F-4D97-AF65-F5344CB8AC3E}">
        <p14:creationId xmlns:p14="http://schemas.microsoft.com/office/powerpoint/2010/main" val="287312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23DD21C-3F96-3B6C-E660-9B0855EE6F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96630A-7EBF-70AA-3025-5B32CFC2C124}"/>
              </a:ext>
            </a:extLst>
          </p:cNvPr>
          <p:cNvSpPr>
            <a:spLocks noGrp="1"/>
          </p:cNvSpPr>
          <p:nvPr>
            <p:ph type="title"/>
          </p:nvPr>
        </p:nvSpPr>
        <p:spPr>
          <a:xfrm>
            <a:off x="4513630" y="6145"/>
            <a:ext cx="3939439" cy="778698"/>
          </a:xfrm>
        </p:spPr>
        <p:txBody>
          <a:bodyPr anchor="ctr">
            <a:normAutofit/>
          </a:bodyPr>
          <a:lstStyle/>
          <a:p>
            <a:r>
              <a:rPr lang="fr-FR" sz="4000" dirty="0">
                <a:solidFill>
                  <a:srgbClr val="FFFF00"/>
                </a:solidFill>
              </a:rPr>
              <a:t>ACP 250 &gt; 50</a:t>
            </a:r>
          </a:p>
        </p:txBody>
      </p:sp>
      <p:sp>
        <p:nvSpPr>
          <p:cNvPr id="7" name="ZoneTexte 6">
            <a:extLst>
              <a:ext uri="{FF2B5EF4-FFF2-40B4-BE49-F238E27FC236}">
                <a16:creationId xmlns:a16="http://schemas.microsoft.com/office/drawing/2014/main" id="{34FFBAEE-560C-199C-0470-0AA82EEEE1ED}"/>
              </a:ext>
            </a:extLst>
          </p:cNvPr>
          <p:cNvSpPr txBox="1"/>
          <p:nvPr/>
        </p:nvSpPr>
        <p:spPr>
          <a:xfrm>
            <a:off x="2775303" y="5631255"/>
            <a:ext cx="6600853"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L’application de l’ACP permet de réduire fortement la dimension des </a:t>
            </a:r>
            <a:r>
              <a:rPr lang="fr-FR" sz="1400" dirty="0" err="1"/>
              <a:t>embeddings</a:t>
            </a:r>
            <a:r>
              <a:rPr lang="fr-FR" sz="1400" dirty="0"/>
              <a:t>, passant de 250 à 50 composantes tout en conservant plus de 94 % de la variance totale. Cette réduction diminue l’empreinte mémoire et le coût de calcul, tout en préservant la structure sémantique des articles. </a:t>
            </a:r>
          </a:p>
        </p:txBody>
      </p:sp>
      <p:pic>
        <p:nvPicPr>
          <p:cNvPr id="5" name="Image 4" descr="Une image contenant texte, capture d’écran, Police&#10;&#10;Le contenu généré par l’IA peut être incorrect.">
            <a:extLst>
              <a:ext uri="{FF2B5EF4-FFF2-40B4-BE49-F238E27FC236}">
                <a16:creationId xmlns:a16="http://schemas.microsoft.com/office/drawing/2014/main" id="{A82E7C90-8A24-E758-7E22-D285B9FD58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563" y="2035906"/>
            <a:ext cx="5871436" cy="2188935"/>
          </a:xfrm>
          <a:prstGeom prst="rect">
            <a:avLst/>
          </a:prstGeom>
        </p:spPr>
      </p:pic>
      <p:pic>
        <p:nvPicPr>
          <p:cNvPr id="9" name="Image 8" descr="Une image contenant texte, ligne, capture d’écran, diagramme&#10;&#10;Le contenu généré par l’IA peut être incorrect.">
            <a:extLst>
              <a:ext uri="{FF2B5EF4-FFF2-40B4-BE49-F238E27FC236}">
                <a16:creationId xmlns:a16="http://schemas.microsoft.com/office/drawing/2014/main" id="{BC8ADF83-420E-AD4B-3591-6797803CBE13}"/>
              </a:ext>
            </a:extLst>
          </p:cNvPr>
          <p:cNvPicPr>
            <a:picLocks noChangeAspect="1"/>
          </p:cNvPicPr>
          <p:nvPr/>
        </p:nvPicPr>
        <p:blipFill>
          <a:blip r:embed="rId3"/>
          <a:stretch>
            <a:fillRect/>
          </a:stretch>
        </p:blipFill>
        <p:spPr>
          <a:xfrm>
            <a:off x="7148215" y="1333648"/>
            <a:ext cx="4496422" cy="3608240"/>
          </a:xfrm>
          <a:prstGeom prst="rect">
            <a:avLst/>
          </a:prstGeom>
        </p:spPr>
      </p:pic>
    </p:spTree>
    <p:extLst>
      <p:ext uri="{BB962C8B-B14F-4D97-AF65-F5344CB8AC3E}">
        <p14:creationId xmlns:p14="http://schemas.microsoft.com/office/powerpoint/2010/main" val="41455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E05C00F7-F4EF-839E-B425-370F3B1DB99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11E71F3-A158-2E98-AA29-568A91DF9AD5}"/>
              </a:ext>
            </a:extLst>
          </p:cNvPr>
          <p:cNvSpPr>
            <a:spLocks noGrp="1"/>
          </p:cNvSpPr>
          <p:nvPr>
            <p:ph type="title"/>
          </p:nvPr>
        </p:nvSpPr>
        <p:spPr>
          <a:xfrm>
            <a:off x="4513630" y="6145"/>
            <a:ext cx="3939439" cy="778698"/>
          </a:xfrm>
        </p:spPr>
        <p:txBody>
          <a:bodyPr anchor="ctr">
            <a:normAutofit/>
          </a:bodyPr>
          <a:lstStyle/>
          <a:p>
            <a:r>
              <a:rPr lang="fr-FR" sz="4000" dirty="0">
                <a:solidFill>
                  <a:srgbClr val="FFFF00"/>
                </a:solidFill>
              </a:rPr>
              <a:t>ACP 250 &gt; 50</a:t>
            </a:r>
          </a:p>
        </p:txBody>
      </p:sp>
      <p:sp>
        <p:nvSpPr>
          <p:cNvPr id="7" name="ZoneTexte 6">
            <a:extLst>
              <a:ext uri="{FF2B5EF4-FFF2-40B4-BE49-F238E27FC236}">
                <a16:creationId xmlns:a16="http://schemas.microsoft.com/office/drawing/2014/main" id="{574D8160-BF0F-52BA-92C9-3E6DA9DCB8F5}"/>
              </a:ext>
            </a:extLst>
          </p:cNvPr>
          <p:cNvSpPr txBox="1"/>
          <p:nvPr/>
        </p:nvSpPr>
        <p:spPr>
          <a:xfrm>
            <a:off x="1953775" y="4569152"/>
            <a:ext cx="7591722" cy="116955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Les résultats obtenus avec l’intégration de l’ACP montrent que le système conserve des recommandations personnalisées cohérentes tout en bénéficiant d’une réduction significative de la dimension des </a:t>
            </a:r>
            <a:r>
              <a:rPr lang="fr-FR" sz="1400" dirty="0" err="1"/>
              <a:t>embeddings</a:t>
            </a:r>
            <a:r>
              <a:rPr lang="fr-FR" sz="1400" dirty="0"/>
              <a:t>. La comparaison avant et après ACP met en évidence une grande stabilité des recommandations, avec seulement des variations mineures, confirmant que l’optimisation n’entraîne pas de dégradation perceptible de la qualité du système.</a:t>
            </a:r>
          </a:p>
        </p:txBody>
      </p:sp>
      <p:pic>
        <p:nvPicPr>
          <p:cNvPr id="11" name="Image 10" descr="Une image contenant texte, capture d’écran, Police&#10;&#10;Le contenu généré par l’IA peut être incorrect.">
            <a:extLst>
              <a:ext uri="{FF2B5EF4-FFF2-40B4-BE49-F238E27FC236}">
                <a16:creationId xmlns:a16="http://schemas.microsoft.com/office/drawing/2014/main" id="{0FA15455-9E2F-ECBF-C8A3-0F6D566497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37" y="1397391"/>
            <a:ext cx="5670499" cy="2255615"/>
          </a:xfrm>
          <a:prstGeom prst="rect">
            <a:avLst/>
          </a:prstGeom>
        </p:spPr>
      </p:pic>
      <p:pic>
        <p:nvPicPr>
          <p:cNvPr id="13" name="Image 12" descr="Une image contenant texte, capture d’écran, Police&#10;&#10;Le contenu généré par l’IA peut être incorrect.">
            <a:extLst>
              <a:ext uri="{FF2B5EF4-FFF2-40B4-BE49-F238E27FC236}">
                <a16:creationId xmlns:a16="http://schemas.microsoft.com/office/drawing/2014/main" id="{72DEFF4B-541E-EA28-3306-2A5298068C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927" y="1700989"/>
            <a:ext cx="5677936" cy="1634285"/>
          </a:xfrm>
          <a:prstGeom prst="rect">
            <a:avLst/>
          </a:prstGeom>
        </p:spPr>
      </p:pic>
    </p:spTree>
    <p:extLst>
      <p:ext uri="{BB962C8B-B14F-4D97-AF65-F5344CB8AC3E}">
        <p14:creationId xmlns:p14="http://schemas.microsoft.com/office/powerpoint/2010/main" val="3046146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3B76679-3136-E2D1-C6E3-A2D7FD60646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CE29FF7-98AC-D758-FFC1-2880387FA2A4}"/>
              </a:ext>
            </a:extLst>
          </p:cNvPr>
          <p:cNvSpPr>
            <a:spLocks noGrp="1"/>
          </p:cNvSpPr>
          <p:nvPr>
            <p:ph type="title"/>
          </p:nvPr>
        </p:nvSpPr>
        <p:spPr>
          <a:xfrm>
            <a:off x="3701589" y="467111"/>
            <a:ext cx="4971564" cy="778698"/>
          </a:xfrm>
          <a:noFill/>
        </p:spPr>
        <p:txBody>
          <a:bodyPr anchor="ctr">
            <a:normAutofit fontScale="90000"/>
          </a:bodyPr>
          <a:lstStyle/>
          <a:p>
            <a:r>
              <a:rPr lang="fr-FR" sz="4000" dirty="0">
                <a:solidFill>
                  <a:srgbClr val="FFFF00"/>
                </a:solidFill>
              </a:rPr>
              <a:t>SYNTHESE EXPLORATION</a:t>
            </a:r>
          </a:p>
        </p:txBody>
      </p:sp>
      <p:pic>
        <p:nvPicPr>
          <p:cNvPr id="4" name="Image 3" descr="Une image contenant texte, capture d’écran, logiciel, Police&#10;&#10;Le contenu généré par l’IA peut être incorrect.">
            <a:extLst>
              <a:ext uri="{FF2B5EF4-FFF2-40B4-BE49-F238E27FC236}">
                <a16:creationId xmlns:a16="http://schemas.microsoft.com/office/drawing/2014/main" id="{1864F061-8945-04A2-EFB1-CF36D411DA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7629" y="1523733"/>
            <a:ext cx="8956741" cy="4610935"/>
          </a:xfrm>
          <a:prstGeom prst="rect">
            <a:avLst/>
          </a:prstGeom>
        </p:spPr>
      </p:pic>
    </p:spTree>
    <p:extLst>
      <p:ext uri="{BB962C8B-B14F-4D97-AF65-F5344CB8AC3E}">
        <p14:creationId xmlns:p14="http://schemas.microsoft.com/office/powerpoint/2010/main" val="758089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4FF1033-945F-EC6F-AC83-3C6121522F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5C92E8-01A7-AB60-AD5D-49BE8EB005A7}"/>
              </a:ext>
            </a:extLst>
          </p:cNvPr>
          <p:cNvSpPr>
            <a:spLocks noGrp="1"/>
          </p:cNvSpPr>
          <p:nvPr>
            <p:ph type="title"/>
          </p:nvPr>
        </p:nvSpPr>
        <p:spPr>
          <a:xfrm>
            <a:off x="4552425" y="-176182"/>
            <a:ext cx="3087139" cy="778698"/>
          </a:xfrm>
        </p:spPr>
        <p:txBody>
          <a:bodyPr anchor="ctr">
            <a:normAutofit/>
          </a:bodyPr>
          <a:lstStyle/>
          <a:p>
            <a:r>
              <a:rPr lang="fr-FR" sz="4000" dirty="0">
                <a:solidFill>
                  <a:srgbClr val="FFFF00"/>
                </a:solidFill>
              </a:rPr>
              <a:t>déploiement  </a:t>
            </a:r>
          </a:p>
        </p:txBody>
      </p:sp>
      <p:sp>
        <p:nvSpPr>
          <p:cNvPr id="6" name="ZoneTexte 5">
            <a:extLst>
              <a:ext uri="{FF2B5EF4-FFF2-40B4-BE49-F238E27FC236}">
                <a16:creationId xmlns:a16="http://schemas.microsoft.com/office/drawing/2014/main" id="{80A0A1AF-5B43-BA97-6DED-A4F6FB59E142}"/>
              </a:ext>
            </a:extLst>
          </p:cNvPr>
          <p:cNvSpPr txBox="1"/>
          <p:nvPr/>
        </p:nvSpPr>
        <p:spPr>
          <a:xfrm>
            <a:off x="2512681" y="5647505"/>
            <a:ext cx="7166625"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 structuration du système de recommandation en modules Python distincts permet de séparer clairement la logique métier, les fonctions utilitaires et les scripts d’exécution. Cette organisation facilite les tests locaux, la maintenance et l’évolutivité du code. Elle constitue une base solide pour un déploiement en environnement </a:t>
            </a:r>
            <a:r>
              <a:rPr lang="fr-FR" sz="1400" dirty="0" err="1"/>
              <a:t>serverless</a:t>
            </a:r>
            <a:r>
              <a:rPr lang="fr-FR" sz="1400" dirty="0"/>
              <a:t>.</a:t>
            </a:r>
          </a:p>
        </p:txBody>
      </p:sp>
      <p:pic>
        <p:nvPicPr>
          <p:cNvPr id="5" name="Image 4" descr="Une image contenant texte, capture d’écran&#10;&#10;Le contenu généré par l’IA peut être incorrect.">
            <a:extLst>
              <a:ext uri="{FF2B5EF4-FFF2-40B4-BE49-F238E27FC236}">
                <a16:creationId xmlns:a16="http://schemas.microsoft.com/office/drawing/2014/main" id="{11BEC8A5-811A-F9FE-862C-2A01B2505C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6869" y="602516"/>
            <a:ext cx="9158248" cy="4692815"/>
          </a:xfrm>
          <a:prstGeom prst="rect">
            <a:avLst/>
          </a:prstGeom>
        </p:spPr>
      </p:pic>
    </p:spTree>
    <p:extLst>
      <p:ext uri="{BB962C8B-B14F-4D97-AF65-F5344CB8AC3E}">
        <p14:creationId xmlns:p14="http://schemas.microsoft.com/office/powerpoint/2010/main" val="2972263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2C389DA-5B41-E424-1885-EFA93DE1E3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EFD0BA2-0D92-2A7E-D69C-86ADC00EA6B2}"/>
              </a:ext>
            </a:extLst>
          </p:cNvPr>
          <p:cNvSpPr>
            <a:spLocks noGrp="1"/>
          </p:cNvSpPr>
          <p:nvPr>
            <p:ph type="title"/>
          </p:nvPr>
        </p:nvSpPr>
        <p:spPr>
          <a:xfrm>
            <a:off x="4552425" y="-176182"/>
            <a:ext cx="3087139" cy="778698"/>
          </a:xfrm>
        </p:spPr>
        <p:txBody>
          <a:bodyPr anchor="ctr">
            <a:normAutofit/>
          </a:bodyPr>
          <a:lstStyle/>
          <a:p>
            <a:r>
              <a:rPr lang="fr-FR" sz="4000" dirty="0">
                <a:solidFill>
                  <a:srgbClr val="FFFF00"/>
                </a:solidFill>
              </a:rPr>
              <a:t>déploiement  </a:t>
            </a:r>
          </a:p>
        </p:txBody>
      </p:sp>
      <p:pic>
        <p:nvPicPr>
          <p:cNvPr id="4" name="Image 3" descr="Une image contenant texte, capture d’écran, Police&#10;&#10;Le contenu généré par l’IA peut être incorrect.">
            <a:extLst>
              <a:ext uri="{FF2B5EF4-FFF2-40B4-BE49-F238E27FC236}">
                <a16:creationId xmlns:a16="http://schemas.microsoft.com/office/drawing/2014/main" id="{58BB8435-E121-BF10-94FF-A6B149EDE7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053" y="1380327"/>
            <a:ext cx="3738915" cy="4097345"/>
          </a:xfrm>
          <a:prstGeom prst="rect">
            <a:avLst/>
          </a:prstGeom>
        </p:spPr>
      </p:pic>
      <p:pic>
        <p:nvPicPr>
          <p:cNvPr id="8" name="Image 7" descr="Une image contenant texte, capture d’écran, Police&#10;&#10;Le contenu généré par l’IA peut être incorrect.">
            <a:extLst>
              <a:ext uri="{FF2B5EF4-FFF2-40B4-BE49-F238E27FC236}">
                <a16:creationId xmlns:a16="http://schemas.microsoft.com/office/drawing/2014/main" id="{F7803FBF-9F6E-23BE-A0E0-CBE840C605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8034" y="1363268"/>
            <a:ext cx="3738915" cy="4097344"/>
          </a:xfrm>
          <a:prstGeom prst="rect">
            <a:avLst/>
          </a:prstGeom>
        </p:spPr>
      </p:pic>
    </p:spTree>
    <p:extLst>
      <p:ext uri="{BB962C8B-B14F-4D97-AF65-F5344CB8AC3E}">
        <p14:creationId xmlns:p14="http://schemas.microsoft.com/office/powerpoint/2010/main" val="16262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0DF5FE4-265C-C364-38D3-29B2F5F4B8EF}"/>
            </a:ext>
          </a:extLst>
        </p:cNvPr>
        <p:cNvGrpSpPr/>
        <p:nvPr/>
      </p:nvGrpSpPr>
      <p:grpSpPr>
        <a:xfrm>
          <a:off x="0" y="0"/>
          <a:ext cx="0" cy="0"/>
          <a:chOff x="0" y="0"/>
          <a:chExt cx="0" cy="0"/>
        </a:xfrm>
      </p:grpSpPr>
      <p:sp>
        <p:nvSpPr>
          <p:cNvPr id="6" name="ZoneTexte 5">
            <a:extLst>
              <a:ext uri="{FF2B5EF4-FFF2-40B4-BE49-F238E27FC236}">
                <a16:creationId xmlns:a16="http://schemas.microsoft.com/office/drawing/2014/main" id="{4EC33A8B-F112-EC54-55D7-70ABC089AF18}"/>
              </a:ext>
            </a:extLst>
          </p:cNvPr>
          <p:cNvSpPr txBox="1"/>
          <p:nvPr/>
        </p:nvSpPr>
        <p:spPr>
          <a:xfrm>
            <a:off x="2512686" y="5787669"/>
            <a:ext cx="7166625"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L’application </a:t>
            </a:r>
            <a:r>
              <a:rPr lang="fr-FR" sz="1400" dirty="0" err="1"/>
              <a:t>Streamlit</a:t>
            </a:r>
            <a:r>
              <a:rPr lang="fr-FR" sz="1400" dirty="0"/>
              <a:t> joue le rôle de client léger dédié à la démonstration du système de recommandation. Elle se contente de consommer l’API Azure </a:t>
            </a:r>
            <a:r>
              <a:rPr lang="fr-FR" sz="1400" dirty="0" err="1"/>
              <a:t>Functions</a:t>
            </a:r>
            <a:r>
              <a:rPr lang="fr-FR" sz="1400" dirty="0"/>
              <a:t> et d’afficher les résultats, sans embarquer de logique de calcul côté interface. Cette séparation garantit une architecture claire, maintenable et cohérente.</a:t>
            </a:r>
          </a:p>
        </p:txBody>
      </p:sp>
      <p:sp>
        <p:nvSpPr>
          <p:cNvPr id="7" name="Titre 1">
            <a:extLst>
              <a:ext uri="{FF2B5EF4-FFF2-40B4-BE49-F238E27FC236}">
                <a16:creationId xmlns:a16="http://schemas.microsoft.com/office/drawing/2014/main" id="{4DCEADB4-BA4F-6B66-702C-9104F2CE61E2}"/>
              </a:ext>
            </a:extLst>
          </p:cNvPr>
          <p:cNvSpPr>
            <a:spLocks noGrp="1"/>
          </p:cNvSpPr>
          <p:nvPr>
            <p:ph type="title"/>
          </p:nvPr>
        </p:nvSpPr>
        <p:spPr>
          <a:xfrm>
            <a:off x="3626203" y="-111732"/>
            <a:ext cx="4939593" cy="778698"/>
          </a:xfrm>
        </p:spPr>
        <p:txBody>
          <a:bodyPr anchor="ctr">
            <a:normAutofit fontScale="90000"/>
          </a:bodyPr>
          <a:lstStyle/>
          <a:p>
            <a:r>
              <a:rPr lang="fr-FR" sz="4000" dirty="0">
                <a:solidFill>
                  <a:srgbClr val="FFFF00"/>
                </a:solidFill>
              </a:rPr>
              <a:t>Déploiement </a:t>
            </a:r>
            <a:r>
              <a:rPr lang="fr-FR" sz="4000" dirty="0" err="1">
                <a:solidFill>
                  <a:srgbClr val="FFFF00"/>
                </a:solidFill>
              </a:rPr>
              <a:t>streamlit</a:t>
            </a:r>
            <a:r>
              <a:rPr lang="fr-FR" sz="4000" dirty="0">
                <a:solidFill>
                  <a:srgbClr val="FFFF00"/>
                </a:solidFill>
              </a:rPr>
              <a:t>  </a:t>
            </a:r>
          </a:p>
        </p:txBody>
      </p:sp>
      <p:pic>
        <p:nvPicPr>
          <p:cNvPr id="11" name="Image 10" descr="Une image contenant texte, capture d’écran, Police&#10;&#10;Le contenu généré par l’IA peut être incorrect.">
            <a:extLst>
              <a:ext uri="{FF2B5EF4-FFF2-40B4-BE49-F238E27FC236}">
                <a16:creationId xmlns:a16="http://schemas.microsoft.com/office/drawing/2014/main" id="{60CEBAFF-3680-60EE-3C8A-82E182BA5A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7603" y="598727"/>
            <a:ext cx="8596793" cy="4943509"/>
          </a:xfrm>
          <a:prstGeom prst="rect">
            <a:avLst/>
          </a:prstGeom>
        </p:spPr>
      </p:pic>
    </p:spTree>
    <p:extLst>
      <p:ext uri="{BB962C8B-B14F-4D97-AF65-F5344CB8AC3E}">
        <p14:creationId xmlns:p14="http://schemas.microsoft.com/office/powerpoint/2010/main" val="2884292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DA850EA7-66B0-BBF3-7FAB-40E0D3B5B3EC}"/>
            </a:ext>
          </a:extLst>
        </p:cNvPr>
        <p:cNvGrpSpPr/>
        <p:nvPr/>
      </p:nvGrpSpPr>
      <p:grpSpPr>
        <a:xfrm>
          <a:off x="0" y="0"/>
          <a:ext cx="0" cy="0"/>
          <a:chOff x="0" y="0"/>
          <a:chExt cx="0" cy="0"/>
        </a:xfrm>
      </p:grpSpPr>
      <p:sp>
        <p:nvSpPr>
          <p:cNvPr id="7" name="Titre 1">
            <a:extLst>
              <a:ext uri="{FF2B5EF4-FFF2-40B4-BE49-F238E27FC236}">
                <a16:creationId xmlns:a16="http://schemas.microsoft.com/office/drawing/2014/main" id="{E85D3DC4-F664-4E7F-415E-982C30B0A837}"/>
              </a:ext>
            </a:extLst>
          </p:cNvPr>
          <p:cNvSpPr>
            <a:spLocks noGrp="1"/>
          </p:cNvSpPr>
          <p:nvPr>
            <p:ph type="title"/>
          </p:nvPr>
        </p:nvSpPr>
        <p:spPr>
          <a:xfrm>
            <a:off x="3626203" y="-111732"/>
            <a:ext cx="4939593" cy="778698"/>
          </a:xfrm>
        </p:spPr>
        <p:txBody>
          <a:bodyPr anchor="ctr">
            <a:normAutofit fontScale="90000"/>
          </a:bodyPr>
          <a:lstStyle/>
          <a:p>
            <a:r>
              <a:rPr lang="fr-FR" sz="4000" dirty="0">
                <a:solidFill>
                  <a:srgbClr val="FFFF00"/>
                </a:solidFill>
              </a:rPr>
              <a:t>Déploiement </a:t>
            </a:r>
            <a:r>
              <a:rPr lang="fr-FR" sz="4000" dirty="0" err="1">
                <a:solidFill>
                  <a:srgbClr val="FFFF00"/>
                </a:solidFill>
              </a:rPr>
              <a:t>streamlit</a:t>
            </a:r>
            <a:r>
              <a:rPr lang="fr-FR" sz="4000" dirty="0">
                <a:solidFill>
                  <a:srgbClr val="FFFF00"/>
                </a:solidFill>
              </a:rPr>
              <a:t>  </a:t>
            </a:r>
          </a:p>
        </p:txBody>
      </p:sp>
      <p:pic>
        <p:nvPicPr>
          <p:cNvPr id="5" name="Image 4" descr="Une image contenant texte, capture d’écran, Police, conception&#10;&#10;Le contenu généré par l’IA peut être incorrect.">
            <a:extLst>
              <a:ext uri="{FF2B5EF4-FFF2-40B4-BE49-F238E27FC236}">
                <a16:creationId xmlns:a16="http://schemas.microsoft.com/office/drawing/2014/main" id="{0AA6CAB4-FF77-E6C1-FAED-81F9322A24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728" y="980887"/>
            <a:ext cx="10914543" cy="5112838"/>
          </a:xfrm>
          <a:prstGeom prst="rect">
            <a:avLst/>
          </a:prstGeom>
        </p:spPr>
      </p:pic>
    </p:spTree>
    <p:extLst>
      <p:ext uri="{BB962C8B-B14F-4D97-AF65-F5344CB8AC3E}">
        <p14:creationId xmlns:p14="http://schemas.microsoft.com/office/powerpoint/2010/main" val="3907197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F2D012D0-E35B-F977-9B67-D220C5D1E3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54440F-6728-3804-008F-01B6F5027723}"/>
              </a:ext>
            </a:extLst>
          </p:cNvPr>
          <p:cNvSpPr>
            <a:spLocks noGrp="1"/>
          </p:cNvSpPr>
          <p:nvPr>
            <p:ph type="title"/>
          </p:nvPr>
        </p:nvSpPr>
        <p:spPr>
          <a:xfrm>
            <a:off x="4099944" y="-158127"/>
            <a:ext cx="3992112" cy="778698"/>
          </a:xfrm>
        </p:spPr>
        <p:txBody>
          <a:bodyPr anchor="ctr">
            <a:normAutofit/>
          </a:bodyPr>
          <a:lstStyle/>
          <a:p>
            <a:r>
              <a:rPr lang="fr-FR" sz="4000" dirty="0">
                <a:solidFill>
                  <a:schemeClr val="accent3"/>
                </a:solidFill>
              </a:rPr>
              <a:t>AZURE FUNCTION</a:t>
            </a:r>
          </a:p>
        </p:txBody>
      </p:sp>
      <p:pic>
        <p:nvPicPr>
          <p:cNvPr id="5" name="Image 4" descr="Une image contenant texte, capture d’écran, Police, logiciel&#10;&#10;Le contenu généré par l’IA peut être incorrect.">
            <a:extLst>
              <a:ext uri="{FF2B5EF4-FFF2-40B4-BE49-F238E27FC236}">
                <a16:creationId xmlns:a16="http://schemas.microsoft.com/office/drawing/2014/main" id="{5EFC1DB0-F87C-7D2B-84A2-3E785CCDD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310" y="948117"/>
            <a:ext cx="8097380" cy="5306165"/>
          </a:xfrm>
          <a:prstGeom prst="rect">
            <a:avLst/>
          </a:prstGeom>
        </p:spPr>
      </p:pic>
    </p:spTree>
    <p:extLst>
      <p:ext uri="{BB962C8B-B14F-4D97-AF65-F5344CB8AC3E}">
        <p14:creationId xmlns:p14="http://schemas.microsoft.com/office/powerpoint/2010/main" val="3616014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FD2C930A-9C39-881F-839A-91D59F7F662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E2992DB-622D-2AAB-9ADD-57C8010B3D3A}"/>
              </a:ext>
            </a:extLst>
          </p:cNvPr>
          <p:cNvSpPr>
            <a:spLocks noGrp="1"/>
          </p:cNvSpPr>
          <p:nvPr>
            <p:ph type="title"/>
          </p:nvPr>
        </p:nvSpPr>
        <p:spPr>
          <a:xfrm>
            <a:off x="4099944" y="-158127"/>
            <a:ext cx="3992112" cy="778698"/>
          </a:xfrm>
        </p:spPr>
        <p:txBody>
          <a:bodyPr anchor="ctr">
            <a:normAutofit/>
          </a:bodyPr>
          <a:lstStyle/>
          <a:p>
            <a:r>
              <a:rPr lang="fr-FR" sz="4000" dirty="0">
                <a:solidFill>
                  <a:schemeClr val="accent3"/>
                </a:solidFill>
              </a:rPr>
              <a:t>AZURE FUNCTION</a:t>
            </a:r>
          </a:p>
        </p:txBody>
      </p:sp>
      <p:pic>
        <p:nvPicPr>
          <p:cNvPr id="4" name="Image 3" descr="Une image contenant texte, capture d’écran, logiciel, Police&#10;&#10;Le contenu généré par l’IA peut être incorrect.">
            <a:extLst>
              <a:ext uri="{FF2B5EF4-FFF2-40B4-BE49-F238E27FC236}">
                <a16:creationId xmlns:a16="http://schemas.microsoft.com/office/drawing/2014/main" id="{7A4E533E-1082-DA08-F66E-2D703112CE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6039" y="941344"/>
            <a:ext cx="8379922" cy="5347290"/>
          </a:xfrm>
          <a:prstGeom prst="rect">
            <a:avLst/>
          </a:prstGeom>
        </p:spPr>
      </p:pic>
    </p:spTree>
    <p:extLst>
      <p:ext uri="{BB962C8B-B14F-4D97-AF65-F5344CB8AC3E}">
        <p14:creationId xmlns:p14="http://schemas.microsoft.com/office/powerpoint/2010/main" val="2586280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B096E085-1F46-252D-B618-DE9BCAFA75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7C9F82-1FCD-F01C-AF97-81F26301F578}"/>
              </a:ext>
            </a:extLst>
          </p:cNvPr>
          <p:cNvSpPr>
            <a:spLocks noGrp="1"/>
          </p:cNvSpPr>
          <p:nvPr>
            <p:ph type="title"/>
          </p:nvPr>
        </p:nvSpPr>
        <p:spPr>
          <a:xfrm>
            <a:off x="4099944" y="-158127"/>
            <a:ext cx="3992112" cy="778698"/>
          </a:xfrm>
        </p:spPr>
        <p:txBody>
          <a:bodyPr anchor="ctr">
            <a:normAutofit/>
          </a:bodyPr>
          <a:lstStyle/>
          <a:p>
            <a:r>
              <a:rPr lang="fr-FR" sz="4000" dirty="0">
                <a:solidFill>
                  <a:schemeClr val="accent3"/>
                </a:solidFill>
              </a:rPr>
              <a:t>AZURE FUNCTION</a:t>
            </a:r>
          </a:p>
        </p:txBody>
      </p:sp>
      <p:pic>
        <p:nvPicPr>
          <p:cNvPr id="4" name="Image 3" descr="Une image contenant texte, capture d’écran, logiciel, Police&#10;&#10;Le contenu généré par l’IA peut être incorrect.">
            <a:extLst>
              <a:ext uri="{FF2B5EF4-FFF2-40B4-BE49-F238E27FC236}">
                <a16:creationId xmlns:a16="http://schemas.microsoft.com/office/drawing/2014/main" id="{4DFB00CD-997E-3A0B-6D08-BCFCDAEEB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0403" y="1271764"/>
            <a:ext cx="9351194" cy="4574855"/>
          </a:xfrm>
          <a:prstGeom prst="rect">
            <a:avLst/>
          </a:prstGeom>
        </p:spPr>
      </p:pic>
    </p:spTree>
    <p:extLst>
      <p:ext uri="{BB962C8B-B14F-4D97-AF65-F5344CB8AC3E}">
        <p14:creationId xmlns:p14="http://schemas.microsoft.com/office/powerpoint/2010/main" val="3988635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632E18E2-6FBE-D260-C209-84E5A9C6B914}"/>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006CF8FE-7BBF-A908-D181-49C8750B8442}"/>
              </a:ext>
            </a:extLst>
          </p:cNvPr>
          <p:cNvSpPr>
            <a:spLocks noGrp="1"/>
          </p:cNvSpPr>
          <p:nvPr>
            <p:ph type="title"/>
          </p:nvPr>
        </p:nvSpPr>
        <p:spPr>
          <a:xfrm>
            <a:off x="4598434" y="-175342"/>
            <a:ext cx="3538320" cy="778698"/>
          </a:xfrm>
        </p:spPr>
        <p:txBody>
          <a:bodyPr anchor="ctr">
            <a:normAutofit/>
          </a:bodyPr>
          <a:lstStyle/>
          <a:p>
            <a:r>
              <a:rPr lang="fr-FR" sz="4000" dirty="0">
                <a:solidFill>
                  <a:schemeClr val="accent3"/>
                </a:solidFill>
              </a:rPr>
              <a:t>CONCLUSION</a:t>
            </a:r>
          </a:p>
        </p:txBody>
      </p:sp>
      <p:pic>
        <p:nvPicPr>
          <p:cNvPr id="3" name="Image 2" descr="Une image contenant texte, capture d’écran, menu, Police&#10;&#10;Le contenu généré par l’IA peut être incorrect.">
            <a:extLst>
              <a:ext uri="{FF2B5EF4-FFF2-40B4-BE49-F238E27FC236}">
                <a16:creationId xmlns:a16="http://schemas.microsoft.com/office/drawing/2014/main" id="{006B81C2-69DF-CCFB-531B-A111D7B94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486" y="671887"/>
            <a:ext cx="9230215" cy="5967748"/>
          </a:xfrm>
          <a:prstGeom prst="rect">
            <a:avLst/>
          </a:prstGeom>
        </p:spPr>
      </p:pic>
    </p:spTree>
    <p:extLst>
      <p:ext uri="{BB962C8B-B14F-4D97-AF65-F5344CB8AC3E}">
        <p14:creationId xmlns:p14="http://schemas.microsoft.com/office/powerpoint/2010/main" val="3284045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68715D-A2B5-DCF4-CF6C-A9FB950062D9}"/>
            </a:ext>
          </a:extLst>
        </p:cNvPr>
        <p:cNvGrpSpPr/>
        <p:nvPr/>
      </p:nvGrpSpPr>
      <p:grpSpPr>
        <a:xfrm>
          <a:off x="0" y="0"/>
          <a:ext cx="0" cy="0"/>
          <a:chOff x="0" y="0"/>
          <a:chExt cx="0" cy="0"/>
        </a:xfrm>
      </p:grpSpPr>
      <p:pic>
        <p:nvPicPr>
          <p:cNvPr id="16" name="Picture 3" descr="Une image contenant rideau, capture d’écran, art, léger&#10;&#10;Description générée automatiquement">
            <a:extLst>
              <a:ext uri="{FF2B5EF4-FFF2-40B4-BE49-F238E27FC236}">
                <a16:creationId xmlns:a16="http://schemas.microsoft.com/office/drawing/2014/main" id="{E032A3CE-58AD-B19A-7A0B-E8E4C69AE7F0}"/>
              </a:ext>
            </a:extLst>
          </p:cNvPr>
          <p:cNvPicPr>
            <a:picLocks noChangeAspect="1"/>
          </p:cNvPicPr>
          <p:nvPr/>
        </p:nvPicPr>
        <p:blipFill>
          <a:blip r:embed="rId2"/>
          <a:srcRect b="19929"/>
          <a:stretch/>
        </p:blipFill>
        <p:spPr>
          <a:xfrm>
            <a:off x="1" y="0"/>
            <a:ext cx="12191999" cy="6857990"/>
          </a:xfrm>
          <a:prstGeom prst="rect">
            <a:avLst/>
          </a:prstGeom>
        </p:spPr>
      </p:pic>
      <p:sp>
        <p:nvSpPr>
          <p:cNvPr id="36" name="Rectangle 35">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re 5">
            <a:extLst>
              <a:ext uri="{FF2B5EF4-FFF2-40B4-BE49-F238E27FC236}">
                <a16:creationId xmlns:a16="http://schemas.microsoft.com/office/drawing/2014/main" id="{854E41FE-6390-1D23-C23A-BDB443340F02}"/>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dirty="0">
                <a:solidFill>
                  <a:schemeClr val="bg1"/>
                </a:solidFill>
              </a:rPr>
              <a:t>Merci de </a:t>
            </a:r>
            <a:r>
              <a:rPr lang="en-US" dirty="0" err="1">
                <a:solidFill>
                  <a:schemeClr val="bg1"/>
                </a:solidFill>
              </a:rPr>
              <a:t>votre</a:t>
            </a:r>
            <a:r>
              <a:rPr lang="en-US" dirty="0">
                <a:solidFill>
                  <a:schemeClr val="bg1"/>
                </a:solidFill>
              </a:rPr>
              <a:t> </a:t>
            </a:r>
            <a:r>
              <a:rPr lang="en-US" dirty="0" err="1">
                <a:solidFill>
                  <a:schemeClr val="bg1"/>
                </a:solidFill>
              </a:rPr>
              <a:t>ecoute</a:t>
            </a:r>
            <a:endParaRPr lang="en-US" dirty="0">
              <a:solidFill>
                <a:schemeClr val="bg1"/>
              </a:solidFill>
            </a:endParaRPr>
          </a:p>
          <a:p>
            <a:pPr algn="ctr"/>
            <a:br>
              <a:rPr lang="en-US" dirty="0">
                <a:solidFill>
                  <a:schemeClr val="bg1"/>
                </a:solidFill>
              </a:rPr>
            </a:br>
            <a:endParaRPr lang="en-US" dirty="0">
              <a:solidFill>
                <a:schemeClr val="bg1"/>
              </a:solidFill>
            </a:endParaRPr>
          </a:p>
        </p:txBody>
      </p:sp>
      <p:sp>
        <p:nvSpPr>
          <p:cNvPr id="3" name="Sous-titre 2">
            <a:extLst>
              <a:ext uri="{FF2B5EF4-FFF2-40B4-BE49-F238E27FC236}">
                <a16:creationId xmlns:a16="http://schemas.microsoft.com/office/drawing/2014/main" id="{8294FA5C-C2C6-18D9-1036-09AC0B46704B}"/>
              </a:ext>
            </a:extLst>
          </p:cNvPr>
          <p:cNvSpPr>
            <a:spLocks noGrp="1"/>
          </p:cNvSpPr>
          <p:nvPr>
            <p:ph type="subTitle" idx="1"/>
          </p:nvPr>
        </p:nvSpPr>
        <p:spPr>
          <a:xfrm>
            <a:off x="643466" y="4133135"/>
            <a:ext cx="10902016" cy="1454510"/>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sz="1800" b="1" dirty="0" err="1">
                <a:solidFill>
                  <a:schemeClr val="bg1"/>
                </a:solidFill>
                <a:effectLst/>
              </a:rPr>
              <a:t>Projet</a:t>
            </a:r>
            <a:r>
              <a:rPr lang="en-US" sz="1800" b="1" dirty="0">
                <a:solidFill>
                  <a:schemeClr val="bg1"/>
                </a:solidFill>
                <a:effectLst/>
              </a:rPr>
              <a:t> 10</a:t>
            </a:r>
            <a:br>
              <a:rPr lang="en-US" sz="1800" b="1" i="0" dirty="0">
                <a:solidFill>
                  <a:schemeClr val="bg1"/>
                </a:solidFill>
                <a:effectLst/>
              </a:rPr>
            </a:br>
            <a:endParaRPr lang="en-US" sz="1800" b="1" dirty="0">
              <a:solidFill>
                <a:schemeClr val="bg1"/>
              </a:solidFill>
            </a:endParaRPr>
          </a:p>
        </p:txBody>
      </p:sp>
      <p:cxnSp>
        <p:nvCxnSpPr>
          <p:cNvPr id="38" name="Straight Connector 37">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525015"/>
      </p:ext>
    </p:extLst>
  </p:cSld>
  <p:clrMapOvr>
    <a:masterClrMapping/>
  </p:clrMapOvr>
</p:sld>
</file>

<file path=ppt/theme/theme1.xml><?xml version="1.0" encoding="utf-8"?>
<a:theme xmlns:a="http://schemas.openxmlformats.org/drawingml/2006/main" name="DividendVTI">
  <a:themeElements>
    <a:clrScheme name="AnalogousFromDarkSeedLeftStep">
      <a:dk1>
        <a:srgbClr val="000000"/>
      </a:dk1>
      <a:lt1>
        <a:srgbClr val="FFFFFF"/>
      </a:lt1>
      <a:dk2>
        <a:srgbClr val="1B302B"/>
      </a:dk2>
      <a:lt2>
        <a:srgbClr val="F3F3F0"/>
      </a:lt2>
      <a:accent1>
        <a:srgbClr val="4843D6"/>
      </a:accent1>
      <a:accent2>
        <a:srgbClr val="2A64C2"/>
      </a:accent2>
      <a:accent3>
        <a:srgbClr val="3CB5D4"/>
      </a:accent3>
      <a:accent4>
        <a:srgbClr val="2AC2A2"/>
      </a:accent4>
      <a:accent5>
        <a:srgbClr val="37C56B"/>
      </a:accent5>
      <a:accent6>
        <a:srgbClr val="31C22A"/>
      </a:accent6>
      <a:hlink>
        <a:srgbClr val="349E6D"/>
      </a:hlink>
      <a:folHlink>
        <a:srgbClr val="7F7F7F"/>
      </a:folHlink>
    </a:clrScheme>
    <a:fontScheme name="Dividend">
      <a:maj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16519</TotalTime>
  <Words>662</Words>
  <Application>Microsoft Office PowerPoint</Application>
  <PresentationFormat>Grand écran</PresentationFormat>
  <Paragraphs>39</Paragraphs>
  <Slides>19</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19</vt:i4>
      </vt:variant>
    </vt:vector>
  </HeadingPairs>
  <TitlesOfParts>
    <vt:vector size="25" baseType="lpstr">
      <vt:lpstr>Aptos</vt:lpstr>
      <vt:lpstr>Gill Sans MT</vt:lpstr>
      <vt:lpstr>Inter</vt:lpstr>
      <vt:lpstr>Tw Cen MT</vt:lpstr>
      <vt:lpstr>Wingdings 2</vt:lpstr>
      <vt:lpstr>DividendVTI</vt:lpstr>
      <vt:lpstr>Projet 10</vt:lpstr>
      <vt:lpstr>CONTEXTE ET OBJECTIFS DU PROJET</vt:lpstr>
      <vt:lpstr>MISE EN PLACE</vt:lpstr>
      <vt:lpstr>Présentation PowerPoint</vt:lpstr>
      <vt:lpstr>MISE EN PLACE</vt:lpstr>
      <vt:lpstr>FONCTION RECO</vt:lpstr>
      <vt:lpstr>Présentation PowerPoint</vt:lpstr>
      <vt:lpstr>ACP 250 &gt; 50</vt:lpstr>
      <vt:lpstr>ACP 250 &gt; 50</vt:lpstr>
      <vt:lpstr>SYNTHESE EXPLORATION</vt:lpstr>
      <vt:lpstr>déploiement  </vt:lpstr>
      <vt:lpstr>déploiement  </vt:lpstr>
      <vt:lpstr>Déploiement streamlit  </vt:lpstr>
      <vt:lpstr>Déploiement streamlit  </vt:lpstr>
      <vt:lpstr>AZURE FUNCTION</vt:lpstr>
      <vt:lpstr>AZURE FUNCTION</vt:lpstr>
      <vt:lpstr>AZURE FUNCTION</vt:lpstr>
      <vt:lpstr>CONCLUSION</vt:lpstr>
      <vt:lpstr>Merci de votre ecoute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A</dc:creator>
  <cp:lastModifiedBy>Victor A</cp:lastModifiedBy>
  <cp:revision>221</cp:revision>
  <dcterms:created xsi:type="dcterms:W3CDTF">2024-10-31T01:53:11Z</dcterms:created>
  <dcterms:modified xsi:type="dcterms:W3CDTF">2026-02-06T12:23:59Z</dcterms:modified>
</cp:coreProperties>
</file>